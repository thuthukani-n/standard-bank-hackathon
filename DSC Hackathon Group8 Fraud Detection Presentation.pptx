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4E96E4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8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DEBIT</c:v>
                  </c:pt>
                  <c:pt idx="1">
                    <c:v>CASH_IN</c:v>
                  </c:pt>
                  <c:pt idx="2">
                    <c:v>PAYMENT</c:v>
                  </c:pt>
                  <c:pt idx="3">
                    <c:v>CASH_OUT</c:v>
                  </c:pt>
                  <c:pt idx="4">
                    <c:v>TRANSFER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0.186</c:v>
                </c:pt>
                <c:pt idx="4">
                  <c:v>0.811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2F8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3D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1D3557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96B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4A"/>
        </a:solidFill>
        <a:ln w="12700" cap="flat">
          <a:solidFill>
            <a:srgbClr val="0A162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</c:v>
                </c:pt>
              </c:strCache>
            </c:strRef>
          </c:tx>
          <c:spPr>
            <a:solidFill>
              <a:srgbClr val="E256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8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&lt;10k</c:v>
                  </c:pt>
                  <c:pt idx="1">
                    <c:v>10–100k</c:v>
                  </c:pt>
                  <c:pt idx="2">
                    <c:v>100–500k</c:v>
                  </c:pt>
                  <c:pt idx="3">
                    <c:v>500k–1m</c:v>
                  </c:pt>
                  <c:pt idx="4">
                    <c:v>&gt;1m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</c:v>
                </c:pt>
                <c:pt idx="1">
                  <c:v>17.9</c:v>
                </c:pt>
                <c:pt idx="2">
                  <c:v>32.4</c:v>
                </c:pt>
                <c:pt idx="3">
                  <c:v>14.4</c:v>
                </c:pt>
                <c:pt idx="4">
                  <c:v>31.7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Legitimate</c:v>
                </c:pt>
              </c:strCache>
            </c:strRef>
          </c:tx>
          <c:spPr>
            <a:solidFill>
              <a:srgbClr val="4E96E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2F8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&lt;10k</c:v>
                  </c:pt>
                  <c:pt idx="1">
                    <c:v>10–100k</c:v>
                  </c:pt>
                  <c:pt idx="2">
                    <c:v>100–500k</c:v>
                  </c:pt>
                  <c:pt idx="3">
                    <c:v>500k–1m</c:v>
                  </c:pt>
                  <c:pt idx="4">
                    <c:v>&gt;1m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20.2</c:v>
                </c:pt>
                <c:pt idx="1">
                  <c:v>35.3</c:v>
                </c:pt>
                <c:pt idx="2">
                  <c:v>39.2</c:v>
                </c:pt>
                <c:pt idx="3">
                  <c:v>3.3</c:v>
                </c:pt>
                <c:pt idx="4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2F8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3D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D35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96B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4A"/>
        </a:solidFill>
        <a:ln w="12700" cap="flat">
          <a:solidFill>
            <a:srgbClr val="0A162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3D6E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4E96E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8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Bayesian LR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0.075</c:v>
                </c:pt>
                <c:pt idx="1">
                  <c:v>0.076</c:v>
                </c:pt>
                <c:pt idx="2">
                  <c:v>0.168</c:v>
                </c:pt>
                <c:pt idx="3">
                  <c:v>0.568</c:v>
                </c:pt>
                <c:pt idx="4">
                  <c:v>0.594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2F8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3D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b"/>
        <c:majorGridlines>
          <c:spPr>
            <a:ln w="6350" cap="flat">
              <a:solidFill>
                <a:srgbClr val="1D35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96B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4A"/>
        </a:solidFill>
        <a:ln w="12700" cap="flat">
          <a:solidFill>
            <a:srgbClr val="0A162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cost (millions of units)</c:v>
                </c:pt>
              </c:strCache>
            </c:strRef>
          </c:tx>
          <c:spPr>
            <a:solidFill>
              <a:srgbClr val="E2564F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8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56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E96E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Bayesian LR</c:v>
                  </c:pt>
                  <c:pt idx="1">
                    <c:v>Logistic Reg.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XGBoost</c:v>
                  </c:pt>
                  <c:pt idx="5">
                    <c:v>Rule engine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58.5</c:v>
                </c:pt>
                <c:pt idx="1">
                  <c:v>58.4</c:v>
                </c:pt>
                <c:pt idx="2">
                  <c:v>36.3</c:v>
                </c:pt>
                <c:pt idx="3">
                  <c:v>33.3</c:v>
                </c:pt>
                <c:pt idx="4">
                  <c:v>23.1</c:v>
                </c:pt>
                <c:pt idx="5">
                  <c:v>13.2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2F8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3D6E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1D35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D355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96B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4A"/>
        </a:solidFill>
        <a:ln w="12700" cap="flat">
          <a:solidFill>
            <a:srgbClr val="0A162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brief. One line: we were asked to detect suspicious transactions in a mobile-money log of 636 262 records containing 849 frauds.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636 262 and 849. Pause on 'two of 849'. Everything we build only has to beat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step 6 - cost evaluation - as the one most teams skip, and the test-set discipline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432 frauds in TRANSFER, 417 in CASH_OUT. Zero in PAYMENT, CASH_IN and DEBIT.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drain signature showed almost no linear correlation with the target. A correlation heatmap alone would have thrown it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conclusion is not 'staff the night shift'. It is that a fixed alert threshold behaves completely differently in low-traffic windows, so any deployed rule has to be volume-aware.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eight features by mutual information: day, errorBalanceDest, hour_of_day, amount_errBal_PC1, type_TRANSFER, newbalanceOrig, type_PAYMENT, origZeroBefore.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missed 15 of 170 frauds while flagging 2.9% of legitimate traffic. Logistic regression missed 38 and flagged 7.6%.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Break-even: the rule engine buys 15 extra caught frauds for 83 953 extra reviews. That is worth it whenever a missed fraud costs more than about 5 600 reviews - roughly 840 000 units.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engine and XGBoost are complementary, not competing. Rules give recall and explainability; the model gives triage order and a manageable false-alarm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one slicer click - filter to the largest amount band and let every visual move at once. One deliberate click, then clear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limits, then the single sentence about two out of 849. Thank the panel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sp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914400" cy="914400"/>
          </a:xfrm>
          <a:prstGeom prst="rect">
            <a:avLst/>
          </a:prstGeom>
        </p:spPr>
      </p:pic>
      <p:pic>
        <p:nvPicPr>
          <p:cNvPr id="3" name="Image 1" descr="/home/claude/deck/img/sb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75488"/>
            <a:ext cx="1691640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7373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 FINANCE AND DIGITAL INNOVATION HACKATHON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21214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Transaction Detection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Mobile Money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48640" y="352958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Plaatje University Data Science Club, in partnership with Standard Bank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4114800"/>
            <a:ext cx="6766560" cy="1874520"/>
          </a:xfrm>
          <a:prstGeom prst="roundRect">
            <a:avLst>
              <a:gd name="adj" fmla="val 4390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8  ·  THE STANDARD DEVIANTS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46268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Ovayo Jack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862072" y="462686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202101500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" y="49926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Thuthukani Nhlengethwa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62072" y="499262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202316164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" y="53583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Bulumko Teta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62072" y="53583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202402810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0" y="46268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Aphelele Gwebityala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99632" y="462686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202430482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0" y="49926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Thuto Matlolokwe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199632" y="499262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202302808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589520" y="4114800"/>
            <a:ext cx="4023360" cy="1874520"/>
          </a:xfrm>
          <a:prstGeom prst="roundRect">
            <a:avLst>
              <a:gd name="adj" fmla="val 439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0" y="42611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636 262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7772400" y="4809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mobile-money transactions analysed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772400" y="51755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849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7772400" y="5632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— 0,13% of all activity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is not detection. It is imbalance.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0,13% of activity — one transaction in every 749.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92938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636 262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2606040"/>
            <a:ext cx="2441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over ~31 simulated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92938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29584" y="2606040"/>
            <a:ext cx="2441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cases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178308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29384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749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82512" y="2606040"/>
            <a:ext cx="2441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fraud in the 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07424" y="1783080"/>
            <a:ext cx="2505456" cy="1691640"/>
          </a:xfrm>
          <a:prstGeom prst="roundRect">
            <a:avLst>
              <a:gd name="adj" fmla="val 4865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92938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849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2494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the bank's existing rule (0,24%)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11064240" cy="1207008"/>
          </a:xfrm>
          <a:prstGeom prst="roundRect">
            <a:avLst>
              <a:gd name="adj" fmla="val 6818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predicts “never fraud” for every transaction is 99,87% accurate — and catches nobody.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2793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fact set every decision in this project. We never report accuracy. We report precision-recall, missed fraud, false alarms, and money.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30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errors, two very different price tags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52297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 (false negative): </a:t>
            </a:r>
            <a:pPr indent="0" marL="0">
              <a:buNone/>
            </a:pPr>
            <a:r>
              <a:rPr lang="en-US" sz="12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absorbs the loss — roughly 1,5 million units per case.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577900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(false positive): </a:t>
            </a:r>
            <a:pPr indent="0" marL="0">
              <a:buNone/>
            </a:pPr>
            <a:r>
              <a:rPr lang="en-US" sz="12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reviews a good transaction — roughly 150 units of time. The asymmetry is about 10 000 to 1.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each one justified by the stage before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was taken because it is conventional. Each answers a problem the previous step exposed.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75688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0756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fraud concentrates before engineering anything.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8745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075688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41648" y="20756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51460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Balance-error terms and zero-balance flags built from raw columns.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18745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2075688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4576" y="20756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Multicollinearity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251460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screening, then PCA on the pair that stayed correlated.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07424" y="18745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2075688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47504" y="20756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251460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information, because correlation misses threshold rules.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950208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9502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438912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classifiers, undersampled after the split, never before.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01568" y="374904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02736" y="3950208"/>
            <a:ext cx="347472" cy="347472"/>
          </a:xfrm>
          <a:prstGeom prst="ellipse">
            <a:avLst/>
          </a:prstGeom>
          <a:solidFill>
            <a:srgbClr val="E2564F"/>
          </a:solidFill>
          <a:ln w="12700">
            <a:solidFill>
              <a:srgbClr val="E256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41648" y="39502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02736" y="438912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counts converted into money, not just PR-AUC.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54496" y="374904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5664" y="3950208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94576" y="39502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 layer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55664" y="4389120"/>
            <a:ext cx="2267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six-rule engine an analyst can read without a model.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189720" y="374904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39136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held out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never resampled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372600" y="45720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127 253 transactions, 170 frauds, left fully imbalanced so results reflect real conditions.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01 — 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fraud sits in two of the five channels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channels are completely clean across roughly 359 000 transactions.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20840" cy="4160520"/>
          </a:xfrm>
          <a:prstGeom prst="roundRect">
            <a:avLst>
              <a:gd name="adj" fmla="val 197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within each transaction channel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267712"/>
          <a:ext cx="6355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1783080"/>
            <a:ext cx="416052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98664" y="1929384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580376" y="26060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fraud is carried by TRANSFER and CASH_OUT alone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3218688"/>
            <a:ext cx="416052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98664" y="3364992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4,4×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580376" y="404164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TRANSFER's fraud rate versus CASH_OUT — on a quarter of the volume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654296"/>
            <a:ext cx="4160520" cy="1289304"/>
          </a:xfrm>
          <a:prstGeom prst="roundRect">
            <a:avLst>
              <a:gd name="adj" fmla="val 6383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47731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504748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half of all traffic carries every unit of risk. Before a single model is trained, the monitoring problem has been cut in half.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02 — WHAT IT LOOKS LIKE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has a fingerprint, and it is visible before authorisation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all computable from information known at decision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989320" cy="4160520"/>
          </a:xfrm>
          <a:prstGeom prst="roundRect">
            <a:avLst>
              <a:gd name="adj" fmla="val 197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amount profile — share of each 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(red) versus legitimate (blue). Amounts are simulation currency units.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13232" y="2505456"/>
          <a:ext cx="5669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720840" y="1783080"/>
            <a:ext cx="489204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1152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drain signature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46920" y="1874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98,2%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931152" y="22951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moves the sender's entire balance. The account is emptied, not skimmed.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20840" y="3218688"/>
            <a:ext cx="489204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mule destination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46920" y="33101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66,2%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931152" y="373075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lands in customer accounts holding nothing beforehand, against 13,8% of legitimate traffic.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4654296"/>
            <a:ext cx="489204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1152" y="4782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size signature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47457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31152" y="51663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exceeds 500 000 units, against 5,3% of legitimate traffic — a different population, not outliers.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03 — WHEN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overnight fraud spike is arithmetic, not behaviour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interesting thing in the data is a conclusion we refused to draw.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38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MYTH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2494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“Fraud peaks at 22,7% in the early hours — criminals work at night.”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6265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fraud-rate-by-hour chart appears to show, and it is the conclusion the data invites you to reach.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938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COUNTS SAY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232" y="22494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arrives at a near-constant 25 to 43 cases per hour, right through the cycle.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96265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collapses overnight is legitimate volume — from roughly 64 000 transactions an hour to about 150. Same numerator, tiny denominator.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425696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" y="510235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fraud cases per cycle hour — essentially flat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4279392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4425696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425696" y="510235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in legitimate volume between the busiest and quietest hour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4279392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4425696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174736" y="510235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times we can honestly quote — the time column has no stated origin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74243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8521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conclusion is not “staff the night shift”. It is that a fixed alert threshold behaves completely differently in low-traffic windows — any deployed rule has to be volume-aware.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features removed, non-linear signal recovered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alone would have discarded the single strongest predictor in the dataset.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75104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97510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Multicollinearity screened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" y="243230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VIF 410 → under 3,6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85292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balance columns were near-duplicates: newbalanceOrig and oldbalanceOrg scored VIF 410,0 and 409,1. After dropping the redundant pair, every remaining feature fell below 3,6.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78308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1975104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97510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pair merged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44568" y="243230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98,5% variance retained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85292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and errorBalanceOrig correlated at r ≈ 0,97 because amount is algebraically inside the error term. PCA replaced both with one component holding 98,5% of their shared variance.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178308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975104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59952" y="197510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by mutual information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243230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signal recovered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2852928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engineered feature showed weak linear correlation with fraud, because fraud here follows threshold and interaction rules. Mutual information scored those correctly; Pearson could not.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7548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limitation we raise before anyone asks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508406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balance-error features are almost perfectly clean separators of fraud in this data — median error of exactly zero for fraud. That sharpness is a property of a simulator, not of a real ledger, where legitimate transactions also carry rounding and timing noise. It must be re-validated against live transaction logs before anyone relies on it, and the dashboard deliberately scores transactions using only values knowable before a transaction settles.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models, one untouched test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127 253 transactions and 170 frauds, left fully imbalanced. Undersampling was applied to training data only.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465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60120"/>
                <a:gridCol w="960120"/>
                <a:gridCol w="1097280"/>
                <a:gridCol w="109728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D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FD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FD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FD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FD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3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8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Six-rule business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783080"/>
            <a:ext cx="4434840" cy="3017520"/>
          </a:xfrm>
          <a:prstGeom prst="roundRect">
            <a:avLst>
              <a:gd name="adj" fmla="val 2727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88352" y="1901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— the metric that survives extreme imbalance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0" y="2395728"/>
          <a:ext cx="4160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956048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248" y="510235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tree ensembles substantially outperformed the linear models — direct confirmation that fraud here follows threshold and interaction rules that a linear decision boundary structurally cannot represent.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41248" y="5541264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ranks all five models as excellent. PR-AUC separates them by a factor of eight. At 0,13% prevalence, only one of those two metrics is telling the truth.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rank one way. Money ranks another.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 on the test set at 1,5 million units per missed fraud and 150 units per review.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3749040"/>
          </a:xfrm>
          <a:prstGeom prst="roundRect">
            <a:avLst>
              <a:gd name="adj" fmla="val 2195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58368" y="1920240"/>
          <a:ext cx="6446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783080"/>
            <a:ext cx="4206240" cy="1170432"/>
          </a:xfrm>
          <a:prstGeom prst="roundRect">
            <a:avLst>
              <a:gd name="adj" fmla="val 7031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52944" y="192938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5 600 : 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534656" y="26060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cost ratio between a missed fraud and a review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3090672"/>
            <a:ext cx="4206240" cy="1170432"/>
          </a:xfrm>
          <a:prstGeom prst="roundRect">
            <a:avLst>
              <a:gd name="adj" fmla="val 7031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52944" y="3236976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: 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4656" y="391363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the business actually faces — so recall wins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4398264"/>
            <a:ext cx="4206240" cy="1133856"/>
          </a:xfrm>
          <a:prstGeom prst="roundRect">
            <a:avLst>
              <a:gd name="adj" fmla="val 7258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26096" y="4517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capacity is real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6096" y="47914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wins on cost by flagging 87 687 transactions. XGBoost flags 3 734. No fraud desk can staff the first number.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65099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57607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context: the bank's existing rule would have cost roughly 255 million units on this same test set, because it catches almost nothing.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model alone. A cascade that uses both.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rules for recall, a trained model for ranking, and a human for the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697480"/>
          </a:xfrm>
          <a:prstGeom prst="roundRect">
            <a:avLst>
              <a:gd name="adj" fmla="val 3051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38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096" y="223113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with rules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31272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and CASH_OUT is scored against six interpretable rules. Catches 100% of test-set fraud. Costs nothing to train and can be explained to a regulator in one sentence.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66160" cy="2697480"/>
          </a:xfrm>
          <a:prstGeom prst="roundRect">
            <a:avLst>
              <a:gd name="adj" fmla="val 3051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938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44568" y="223113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with XGBoost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44568" y="2706624"/>
            <a:ext cx="31272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flagged queue is ordered by model probability, so the 3 734 highest-risk items surface first. Recall comes from the rules; priority comes from the model.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783080"/>
            <a:ext cx="3566160" cy="2697480"/>
          </a:xfrm>
          <a:prstGeom prst="roundRect">
            <a:avLst>
              <a:gd name="adj" fmla="val 3051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385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223113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with a human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706624"/>
            <a:ext cx="31272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work the queue from the top. Nothing is auto-blocked. Every alert arrives with the specific reasons it scored, so a decision takes seconds.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5486400" cy="1444752"/>
          </a:xfrm>
          <a:prstGeom prst="roundRect">
            <a:avLst>
              <a:gd name="adj" fmla="val 5696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honest over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512064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non-stationary. Track the flag rate and the model's score distribution week on week; when either drifts beyond a control limit, retrain and re-tune the threshold rather than waiting for the loss report to tell you.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681728"/>
            <a:ext cx="5440680" cy="1444752"/>
          </a:xfrm>
          <a:prstGeom prst="roundRect">
            <a:avLst>
              <a:gd name="adj" fmla="val 569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the threshold to the bank's real cost ratio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28232" y="512064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here used a default 0,5 cut-off. Because the cost of a missed fraud and a review are known quantities, that threshold should be chosen by expected cost, not convention — the single highest-return change still available.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six charts, six different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so a fraud analyst can interrogate the findings without asking for a new report.</a:t>
            </a:r>
            <a:endParaRPr lang="en-US" sz="1400" dirty="0"/>
          </a:p>
        </p:txBody>
      </p:sp>
      <p:pic>
        <p:nvPicPr>
          <p:cNvPr id="5" name="Image 0" descr="/home/claude/deck/img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7818120" cy="4096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755648"/>
            <a:ext cx="2999232" cy="603504"/>
          </a:xfrm>
          <a:prstGeom prst="roundRect">
            <a:avLst>
              <a:gd name="adj" fmla="val 1363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96528" y="18105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796528" y="2020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channel isolates the two that matter.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613648" y="2450592"/>
            <a:ext cx="2999232" cy="603504"/>
          </a:xfrm>
          <a:prstGeom prst="roundRect">
            <a:avLst>
              <a:gd name="adj" fmla="val 13636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96528" y="2505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large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796528" y="2715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amount distribution, not an average.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613648" y="3145536"/>
            <a:ext cx="2999232" cy="603504"/>
          </a:xfrm>
          <a:prstGeom prst="roundRect">
            <a:avLst>
              <a:gd name="adj" fmla="val 1363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96528" y="3200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796528" y="3410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drain signature — share of the balance moved.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613648" y="3840480"/>
            <a:ext cx="2999232" cy="603504"/>
          </a:xfrm>
          <a:prstGeom prst="roundRect">
            <a:avLst>
              <a:gd name="adj" fmla="val 13636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38953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lands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96528" y="41056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account state, the blacklistable part.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13648" y="4535424"/>
            <a:ext cx="2999232" cy="603504"/>
          </a:xfrm>
          <a:prstGeom prst="roundRect">
            <a:avLst>
              <a:gd name="adj" fmla="val 1363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4590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796528" y="4800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position, framed as a denominator effect.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613648" y="5230368"/>
            <a:ext cx="2999232" cy="603504"/>
          </a:xfrm>
          <a:prstGeom prst="roundRect">
            <a:avLst>
              <a:gd name="adj" fmla="val 13636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52852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796528" y="54955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row anchored on 849 frauds and 2 caught today.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5961888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slicers cross-filter every visual. Amounts are labelled as simulation currency units throughout.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not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boundary of the evidence is part of the result, not a caveat bolted onto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225296"/>
          </a:xfrm>
          <a:prstGeom prst="roundRect">
            <a:avLst>
              <a:gd name="adj" fmla="val 671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South African bank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36829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synthetic log calibrated on one month of an African mobile-money service. Every conclusion is about that generating process.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1225296"/>
          </a:xfrm>
          <a:prstGeom prst="roundRect">
            <a:avLst>
              <a:gd name="adj" fmla="val 671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965960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965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currency, so no rands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19088" y="236829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publishes no currency. Every figure in this deck is a simulation currency unit.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25296"/>
          </a:xfrm>
          <a:prstGeom prst="roundRect">
            <a:avLst>
              <a:gd name="adj" fmla="val 671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337560"/>
            <a:ext cx="347472" cy="347472"/>
          </a:xfrm>
          <a:prstGeom prst="ellipse">
            <a:avLst/>
          </a:prstGeom>
          <a:solidFill>
            <a:srgbClr val="1A5FC8"/>
          </a:solidFill>
          <a:ln w="12700">
            <a:solidFill>
              <a:srgbClr val="1A5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clock times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73989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counts hours from an unstated origin. We report position in the cycle and never a time of 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394960" cy="1225296"/>
          </a:xfrm>
          <a:prstGeom prst="roundRect">
            <a:avLst>
              <a:gd name="adj" fmla="val 6716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3337560"/>
            <a:ext cx="347472" cy="347472"/>
          </a:xfrm>
          <a:prstGeom prst="ellipse">
            <a:avLst/>
          </a:prstGeom>
          <a:solidFill>
            <a:srgbClr val="E2564F"/>
          </a:solidFill>
          <a:ln w="12700">
            <a:solidFill>
              <a:srgbClr val="E256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not yet field-tested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19088" y="373989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balance-error separation is unusually clean for synthetic data and must be re-validated on live logs before deployment.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394960" cy="1572768"/>
          </a:xfrm>
          <a:prstGeom prst="roundRect">
            <a:avLst>
              <a:gd name="adj" fmla="val 5233"/>
            </a:avLst>
          </a:prstGeom>
          <a:solidFill>
            <a:srgbClr val="0F2140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7000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our use of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501091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were used to troubleshoot unfamiliar techniques and to write boilerplate for confusion-matrix and plotting loops. No suggested code was run unexamined, and every interpretive claim was grounded in printed crosstabs rather than accepted from a model's phrasing. The analytical decisions were made and verified against the data.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572000"/>
            <a:ext cx="5394960" cy="1572768"/>
          </a:xfrm>
          <a:prstGeom prst="roundRect">
            <a:avLst>
              <a:gd name="adj" fmla="val 5233"/>
            </a:avLst>
          </a:prstGeom>
          <a:solidFill>
            <a:srgbClr val="13294A"/>
          </a:solidFill>
          <a:ln w="9525">
            <a:solidFill>
              <a:srgbClr val="2756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7000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claim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73952" y="501091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channels, one balance test, one destination test. Three columns and no machine learning separate these classes almost completely — and a trained model on top turns that into a queue a fraud desk can actually work.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73952" y="57058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running on this data today catches 2 frauds out of 849.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· The Standard Deviants · Sol Plaatje University × Standard Bank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9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Finance and Digital Innovation Hackathon</dc:title>
  <dc:subject>PptxGenJS Presentation</dc:subject>
  <dc:creator>Group 8 - The Standard Deviants</dc:creator>
  <cp:lastModifiedBy>Group 8 - The Standard Deviants</cp:lastModifiedBy>
  <cp:revision>1</cp:revision>
  <dcterms:created xsi:type="dcterms:W3CDTF">2026-07-26T07:45:57Z</dcterms:created>
  <dcterms:modified xsi:type="dcterms:W3CDTF">2026-07-26T07:45:57Z</dcterms:modified>
</cp:coreProperties>
</file>